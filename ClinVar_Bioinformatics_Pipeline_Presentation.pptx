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ClinVar Bioinformatics Analysis Pipeline</a:t>
            </a:r>
          </a:p>
          <a:p>
            <a:pPr>
              <a:spcAft>
                <a:spcPts val="2400"/>
              </a:spcAft>
              <a:defRPr sz="2000">
                <a:solidFill>
                  <a:srgbClr val="2980B9"/>
                </a:solidFill>
              </a:defRPr>
            </a:pPr>
            <a:r>
              <a:t>A Reproducible, Publication-Grade Human Genomic Variant Workflow</a:t>
            </a:r>
          </a:p>
          <a:p>
            <a:pPr>
              <a:defRPr sz="1500">
                <a:solidFill>
                  <a:srgbClr val="C8D7EB"/>
                </a:solidFill>
              </a:defRPr>
            </a:pPr>
            <a:r>
              <a:t>Implemented with POSIX Bash, Nextflow DSL2 &amp; Python CLI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B4D2"/>
                </a:solidFill>
              </a:defRPr>
            </a:pPr>
            <a:r>
              <a:t>Bioinformatics &amp; Data Science Architecture | NCBI ClinVar Dataset (9.05M Records)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r>
              <a:t>CLINVAR BIOINFORMATICS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2043"/>
                </a:solidFill>
              </a:defRPr>
            </a:pPr>
            <a:r>
              <a:t>Core Pipeline Objectives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• Automated Data Ingestion: Stream and cache the official NCBI ClinVar dataset (variant_summary.txt.gz).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• Evidence-Based Filtering: Filter variants mapped to GRCh38 and exclude unasserted 0-star submissions.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• Gene Landscape Profiling: Categorize human genes into Pathogenic-only, Benign-only, and Multiclass genetic profiles.</a:t>
            </a:r>
          </a:p>
          <a:p>
            <a:pPr>
              <a:spcAft>
                <a:spcPts val="1000"/>
              </a:spcAft>
              <a:defRPr sz="1300">
                <a:solidFill>
                  <a:srgbClr val="282828"/>
                </a:solidFill>
              </a:defRPr>
            </a:pPr>
            <a:r>
              <a:t>• Publication Visualizations: Generate high-resolution 300 DPI vector/raster figures compliant with journal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BF0F8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2043"/>
                </a:solidFill>
              </a:defRPr>
            </a:pPr>
            <a:r>
              <a:t>Dataset Scale &amp; Core Metrics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9,050,979  –  Total Raw ClinVar Submissions Evaluated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3,950,959  –  High-Confidence (&gt;=1 Star) GRCh38 Variants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320,260  –  Pathogenic / Likely Pathogenic Variants (8.11%)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7,031  –  Unique Human Genes Harboring Pathogenic Variants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</a:defRPr>
            </a:pPr>
            <a:r>
              <a:t>51,895  –  Unique Clinical Phenotypes / Diseases Mapped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r>
              <a:t>CLINVAR BIOINFORMATICS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End-to-End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1. Data Streaming  [download_data.py]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HTTP streaming fetch from NCBI ClinVar FTP repository with checksum integrity check and local disk caching.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2. Shell Inspection  [run_pipeline.sh]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POSIX Bash verification using head, wc -l, and AWK schema checking to validate headers and GRCh38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39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3. Statistical ETL  [clinvar_pipeline.py]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Low-RAM chunked stream processing (chunk size = 250k) for GRCh38 filtering, star rating, and gene profile classification.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59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4. Plot Generator  [plot_generator.py]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Automated publication-quality 300 DPI figure generation using matplotlib and seaborn.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79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5. Nextflow DSL2  [main.nf &amp; config]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Modular Nextflow workflow orchestration with process isolation, parameter channels, and HTML trace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r>
              <a:t>CLINVAR BIOINFORMATICS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ClinVar Data Schema &amp; Core Fields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6796735"/>
              </a:tblGrid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 &amp; Scientific Function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AlleleID / VariationID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NCBI unique allele and variant identifier markers.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Variant structural classification (SNV, Deletion, Duplication, CNV).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GeneSymbol &amp; GeneID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String / 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Official HGNC gene symbol and NCBI Entrez gene 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ClinicalSignificance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Clinical assertion (Pathogenic, Likely pathogenic, Benign, VUS).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ReviewStatus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Evidence assertion tier mapping to 0 to 4 ClinVar star ratings.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Assembly &amp; PositionVCF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String / Int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Genomic reference build (GRCh38) and chromosome VCF start coordinate.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PhenotypeList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Semicolon-delimited list of associated clinical diseases and traits.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r>
              <a:t>CLINVAR BIOINFORMATICS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Evidence Filtering &amp; Star Rating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2043"/>
                </a:solidFill>
              </a:defRPr>
            </a:pPr>
            <a:r>
              <a:t>1. Reference Genome Assembly</a:t>
            </a:r>
          </a:p>
          <a:p>
            <a:pPr>
              <a:spcAft>
                <a:spcPts val="2000"/>
              </a:spcAft>
              <a:defRPr sz="1300">
                <a:solidFill>
                  <a:srgbClr val="282828"/>
                </a:solidFill>
              </a:defRPr>
            </a:pPr>
            <a:r>
              <a:t>• Filtered strictly for Assembly == 'GRCh38'.</a:t>
            </a:r>
            <a:br/>
            <a:r>
              <a:t>• Excludes legacy GRCh37 coordinates to eliminate duplicate variant counting across reference builds.</a:t>
            </a:r>
          </a:p>
          <a:p>
            <a:pPr>
              <a:spcAft>
                <a:spcPts val="1000"/>
              </a:spcAft>
              <a:defRPr sz="1600" b="1">
                <a:solidFill>
                  <a:srgbClr val="0F2043"/>
                </a:solidFill>
              </a:defRPr>
            </a:pPr>
            <a:r>
              <a:t>2. Pathogenicity Categorization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Pathogenic: Pathogenic &amp; Likely pathogenic</a:t>
            </a:r>
            <a:br/>
            <a:r>
              <a:t>• Benign: Benign &amp; Likely benign</a:t>
            </a:r>
            <a:br/>
            <a:r>
              <a:t>• VUS: Uncertain significance</a:t>
            </a:r>
            <a:br/>
            <a:r>
              <a:t>• Conflicting: Conflicting interpretations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BF0F8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0F2043"/>
                </a:solidFill>
              </a:defRPr>
            </a:pPr>
            <a:r>
              <a:t>ClinVar Star Rating Evidence System</a:t>
            </a:r>
          </a:p>
          <a:p>
            <a:pPr>
              <a:spcAft>
                <a:spcPts val="800"/>
              </a:spcAft>
              <a:defRPr sz="1200" b="1">
                <a:solidFill>
                  <a:srgbClr val="27AE60"/>
                </a:solidFill>
              </a:defRPr>
            </a:pPr>
            <a:r>
              <a:t>4 Stars (★★★★): practice guideline (Highest confidence)</a:t>
            </a:r>
          </a:p>
          <a:p>
            <a:pPr>
              <a:spcAft>
                <a:spcPts val="800"/>
              </a:spcAft>
              <a:defRPr sz="1200" b="1">
                <a:solidFill>
                  <a:srgbClr val="27AE60"/>
                </a:solidFill>
              </a:defRPr>
            </a:pPr>
            <a:r>
              <a:t>3 Stars (★★★☆): reviewed by expert panel (Expert consensus)</a:t>
            </a:r>
          </a:p>
          <a:p>
            <a:pPr>
              <a:spcAft>
                <a:spcPts val="800"/>
              </a:spcAft>
              <a:defRPr sz="1200" b="1">
                <a:solidFill>
                  <a:srgbClr val="27AE60"/>
                </a:solidFill>
              </a:defRPr>
            </a:pPr>
            <a:r>
              <a:t>2 Stars (★★☆☆): criteria provided, multiple submitters (High confidence)</a:t>
            </a:r>
          </a:p>
          <a:p>
            <a:pPr>
              <a:spcAft>
                <a:spcPts val="800"/>
              </a:spcAft>
              <a:defRPr sz="1200" b="1">
                <a:solidFill>
                  <a:srgbClr val="27AE60"/>
                </a:solidFill>
              </a:defRPr>
            </a:pPr>
            <a:r>
              <a:t>1 Star  (★☆☆☆): criteria provided, single submitter (Medium confidence)</a:t>
            </a:r>
          </a:p>
          <a:p>
            <a:pPr>
              <a:spcAft>
                <a:spcPts val="800"/>
              </a:spcAft>
              <a:defRPr sz="1200" b="0">
                <a:solidFill>
                  <a:srgbClr val="D35400"/>
                </a:solidFill>
              </a:defRPr>
            </a:pPr>
            <a:r>
              <a:t>0 Stars (☆☆☆☆): no assertion criteria provided (Excluded (Unverified))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r>
              <a:t>CLINVAR BIOINFORMATICS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Memory Optimization: Stream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600"/>
              </a:spcAft>
              <a:defRPr sz="1800" b="1">
                <a:solidFill>
                  <a:srgbClr val="0F2043"/>
                </a:solidFill>
              </a:defRPr>
            </a:pPr>
            <a:r>
              <a:t>Challenge &amp; Solution: Handling 3.77 GB Text Data in Low-RAM Environments</a:t>
            </a:r>
          </a:p>
          <a:p>
            <a:pPr>
              <a:spcAft>
                <a:spcPts val="1200"/>
              </a:spcAft>
              <a:defRPr sz="1300">
                <a:solidFill>
                  <a:srgbClr val="282828"/>
                </a:solidFill>
              </a:defRPr>
            </a:pPr>
            <a:r>
              <a:t>• The Memory Bottleneck: Loading the raw 3.77 GB ClinVar text dataset into Pandas at once requires &gt;4.0 GB RAM, causing Out-Of-Memory (OOM) 'Terminated' errors in WSL/Docker virtual machines.</a:t>
            </a:r>
          </a:p>
          <a:p>
            <a:pPr>
              <a:spcAft>
                <a:spcPts val="1200"/>
              </a:spcAft>
              <a:defRPr sz="1300">
                <a:solidFill>
                  <a:srgbClr val="282828"/>
                </a:solidFill>
              </a:defRPr>
            </a:pPr>
            <a:r>
              <a:t>• Chunked Stream Architecture: Re-engineered clinvar_pipeline.py to process records in stream chunks of chunk_size = 250,000 rows.</a:t>
            </a:r>
          </a:p>
          <a:p>
            <a:pPr>
              <a:spcAft>
                <a:spcPts val="1200"/>
              </a:spcAft>
              <a:defRPr sz="1300">
                <a:solidFill>
                  <a:srgbClr val="282828"/>
                </a:solidFill>
              </a:defRPr>
            </a:pPr>
            <a:r>
              <a:t>• RAM Reduction: Peak RAM footprint drops from 4,000 MB down to ~150 MB RAM (a 96% reduction in memory usage).</a:t>
            </a:r>
          </a:p>
          <a:p>
            <a:pPr>
              <a:spcAft>
                <a:spcPts val="1200"/>
              </a:spcAft>
              <a:defRPr sz="1300">
                <a:solidFill>
                  <a:srgbClr val="282828"/>
                </a:solidFill>
              </a:defRPr>
            </a:pPr>
            <a:r>
              <a:t>• Cross-Platform Resilience: Enables seamless execution across low-resource Linux VMs, WSL2, Docker containers, and HPC clusters.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r>
              <a:t>CLINVAR BIOINFORMATICS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Empirical Results: Pathogenic Cohort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3870655"/>
              </a:tblGrid>
              <a:tr h="60579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Bioinformatics Metric Description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Empirical Dataset Quantities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Total ClinVar Variant Submissions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980B9"/>
                          </a:solidFill>
                        </a:defRPr>
                      </a:pPr>
                      <a:r>
                        <a:t>9,050,979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Genomic Assembly Filter (GRCh38 Retained)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980B9"/>
                          </a:solidFill>
                        </a:defRPr>
                      </a:pPr>
                      <a:r>
                        <a:t>4,491,757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High-Confidence (&gt;=1-Star) Variants Retained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980B9"/>
                          </a:solidFill>
                        </a:defRPr>
                      </a:pPr>
                      <a:r>
                        <a:t>3,950,959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Pathogenic / Likely Pathogenic Variants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980B9"/>
                          </a:solidFill>
                        </a:defRPr>
                      </a:pPr>
                      <a:r>
                        <a:t>320,260 (8.11%)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Benign / Likely Benign Variants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980B9"/>
                          </a:solidFill>
                        </a:defRPr>
                      </a:pPr>
                      <a:r>
                        <a:t>1,336,584 (33.83%)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Uncertain Significance (VUS) Variants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980B9"/>
                          </a:solidFill>
                        </a:defRPr>
                      </a:pPr>
                      <a:r>
                        <a:t>2,293,888 (58.06%)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Unique Human Genes &amp; Associated Phenotypes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980B9"/>
                          </a:solidFill>
                        </a:defRPr>
                      </a:pPr>
                      <a:r>
                        <a:t>7,031 Genes | 51,895 Phenotypes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r>
              <a:t>CLINVAR BIOINFORMATICS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Top 10 Ranked Pathogenic Burden Genes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2011680"/>
                <a:gridCol w="2011680"/>
                <a:gridCol w="2011680"/>
                <a:gridCol w="1950415"/>
              </a:tblGrid>
              <a:tr h="44057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Gene Symbol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Pathogenic Count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Benign Count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VUS Count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Gene Profile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BRCA2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5,593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5,816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4,186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TTN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5,560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17,278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12,002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NF1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5,378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4,325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5,804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BRCA1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4,117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3,642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2,386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ATM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3,783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5,610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8,323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FBN1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3,307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2,235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2,673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APC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2,549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3,734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8,787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DMD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2,328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3,840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2,692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MSH6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2,234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2,456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4,464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MSH2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82828"/>
                          </a:solidFill>
                        </a:defRPr>
                      </a:pPr>
                      <a:r>
                        <a:t>2,127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2,239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2,298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82828"/>
                          </a:solidFill>
                        </a:defRPr>
                      </a:pPr>
                      <a:r>
                        <a:t>Multiclass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r>
              <a:t>CLINVAR BIOINFORMATICS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Publication-Quality Visualizations (300 DPI)</a:t>
            </a:r>
          </a:p>
        </p:txBody>
      </p:sp>
      <p:pic>
        <p:nvPicPr>
          <p:cNvPr id="4" name="Picture 3" descr="clinvar_figure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206501"/>
          </a:xfrm>
          <a:prstGeom prst="rect">
            <a:avLst/>
          </a:prstGeom>
        </p:spPr>
      </p:pic>
      <p:pic>
        <p:nvPicPr>
          <p:cNvPr id="5" name="Picture 4" descr="clinvar_figure2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3964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2980B9"/>
                </a:solidFill>
              </a:defRPr>
            </a:pPr>
            <a:r>
              <a:t>CLINVAR BIOINFORMATICS PIPELINE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Reproduction &amp; GitHub Setup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r>
              <a:t>Pipeline Execution Commands</a:t>
            </a:r>
          </a:p>
          <a:p>
            <a:pPr>
              <a:spcAft>
                <a:spcPts val="1000"/>
              </a:spcAft>
              <a:defRPr sz="1100">
                <a:solidFill>
                  <a:srgbClr val="282828"/>
                </a:solidFill>
              </a:defRPr>
            </a:pPr>
            <a:r>
              <a:t>1. POSIX Bash Script Execution:</a:t>
            </a:r>
            <a:br/>
            <a:r>
              <a:t>   ./run_pipeline.sh</a:t>
            </a:r>
          </a:p>
          <a:p>
            <a:pPr>
              <a:spcAft>
                <a:spcPts val="1000"/>
              </a:spcAft>
              <a:defRPr sz="1100">
                <a:solidFill>
                  <a:srgbClr val="282828"/>
                </a:solidFill>
              </a:defRPr>
            </a:pPr>
            <a:r>
              <a:t>2. Nextflow DSL2 Workflow Execution:</a:t>
            </a:r>
            <a:br/>
            <a:r>
              <a:t>   nextflow run main.nf -profile standard</a:t>
            </a:r>
          </a:p>
          <a:p>
            <a:pPr>
              <a:spcAft>
                <a:spcPts val="1000"/>
              </a:spcAft>
              <a:defRPr sz="1100">
                <a:solidFill>
                  <a:srgbClr val="282828"/>
                </a:solidFill>
              </a:defRPr>
            </a:pPr>
            <a:r>
              <a:t>3. Standalone Python CLI Modules:</a:t>
            </a:r>
            <a:br/>
            <a:r>
              <a:t>   python bin/download_data.py</a:t>
            </a:r>
            <a:br/>
            <a:r>
              <a:t>   python bin/clinvar_pipeline.py --chunk-size 250000</a:t>
            </a:r>
            <a:br/>
            <a:r>
              <a:t>   python bin/plot_generator.py --dpi 300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BF0F8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r>
              <a:t>GitHub Repository Setup</a:t>
            </a:r>
          </a:p>
          <a:p>
            <a:pPr>
              <a:spcAft>
                <a:spcPts val="800"/>
              </a:spcAft>
              <a:defRPr sz="1100" b="1">
                <a:solidFill>
                  <a:srgbClr val="2980B9"/>
                </a:solidFill>
              </a:defRPr>
            </a:pPr>
            <a:r>
              <a:t>$ git init</a:t>
            </a:r>
          </a:p>
          <a:p>
            <a:pPr>
              <a:spcAft>
                <a:spcPts val="800"/>
              </a:spcAft>
              <a:defRPr sz="1100" b="1">
                <a:solidFill>
                  <a:srgbClr val="2980B9"/>
                </a:solidFill>
              </a:defRPr>
            </a:pPr>
            <a:r>
              <a:t>$ git add .</a:t>
            </a:r>
          </a:p>
          <a:p>
            <a:pPr>
              <a:spcAft>
                <a:spcPts val="800"/>
              </a:spcAft>
              <a:defRPr sz="1100" b="1">
                <a:solidFill>
                  <a:srgbClr val="2980B9"/>
                </a:solidFill>
              </a:defRPr>
            </a:pPr>
            <a:r>
              <a:t>$ git commit -m 'feat: Initial commit of ClinVar bioinformatics pipeline'</a:t>
            </a:r>
          </a:p>
          <a:p>
            <a:pPr>
              <a:spcAft>
                <a:spcPts val="800"/>
              </a:spcAft>
              <a:defRPr sz="1100" b="1">
                <a:solidFill>
                  <a:srgbClr val="2980B9"/>
                </a:solidFill>
              </a:defRPr>
            </a:pPr>
            <a:r>
              <a:t>$ git branch -M main</a:t>
            </a:r>
          </a:p>
          <a:p>
            <a:pPr>
              <a:spcAft>
                <a:spcPts val="800"/>
              </a:spcAft>
              <a:defRPr sz="1100" b="1">
                <a:solidFill>
                  <a:srgbClr val="2980B9"/>
                </a:solidFill>
              </a:defRPr>
            </a:pPr>
            <a:r>
              <a:t>$ git remote add origin https://github.com/user/clinvar-pipeline.git</a:t>
            </a:r>
          </a:p>
          <a:p>
            <a:pPr>
              <a:spcAft>
                <a:spcPts val="800"/>
              </a:spcAft>
              <a:defRPr sz="1100" b="1">
                <a:solidFill>
                  <a:srgbClr val="2980B9"/>
                </a:solidFill>
              </a:defRPr>
            </a:pPr>
            <a:r>
              <a:t>$ git push -u origin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